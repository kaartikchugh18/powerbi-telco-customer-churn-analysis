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3"/>
  </p:notesMasterIdLst>
  <p:sldIdLst>
    <p:sldId id="256" r:id="rId2"/>
    <p:sldId id="270" r:id="rId3"/>
    <p:sldId id="300" r:id="rId4"/>
    <p:sldId id="271" r:id="rId5"/>
    <p:sldId id="288" r:id="rId6"/>
    <p:sldId id="257" r:id="rId7"/>
    <p:sldId id="347" r:id="rId8"/>
    <p:sldId id="348" r:id="rId9"/>
    <p:sldId id="281" r:id="rId10"/>
    <p:sldId id="349" r:id="rId11"/>
    <p:sldId id="350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erriweather Light" panose="00000400000000000000" pitchFamily="2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Vidaloka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237253-5B6D-4F17-9ABF-900975864CCF}">
  <a:tblStyle styleId="{3C237253-5B6D-4F17-9ABF-900975864C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cc7554a049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cc7554a049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cc7554a049_0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cc7554a049_0_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07a9a8b46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07a9a8b46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cc7554a049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cc7554a049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50CF47BA-8F00-E832-2304-3AAE71C5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C98F6C06-4053-15C6-9386-D99892503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FFBA5B2E-86EF-AD84-32E2-BC12DF556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942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E75FDC7B-9080-DF63-ADE2-47E29725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158C4460-93C2-D5BD-FCE7-1669A221B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A7A95B2A-F916-103D-2E0C-7DCBD183A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98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07aaa41fe9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07aaa41fe9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83CC082-2FF8-26B0-B354-9EC3C97A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07aaa41fe9_0_131:notes">
            <a:extLst>
              <a:ext uri="{FF2B5EF4-FFF2-40B4-BE49-F238E27FC236}">
                <a16:creationId xmlns:a16="http://schemas.microsoft.com/office/drawing/2014/main" id="{86C21DB6-5C83-A830-B095-6DF84C570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07aaa41fe9_0_131:notes">
            <a:extLst>
              <a:ext uri="{FF2B5EF4-FFF2-40B4-BE49-F238E27FC236}">
                <a16:creationId xmlns:a16="http://schemas.microsoft.com/office/drawing/2014/main" id="{40A58353-50F7-9CC6-DDD1-A68CC93CE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262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>
          <a:extLst>
            <a:ext uri="{FF2B5EF4-FFF2-40B4-BE49-F238E27FC236}">
              <a16:creationId xmlns:a16="http://schemas.microsoft.com/office/drawing/2014/main" id="{8E6D8C5C-B20A-8EDC-DF55-567EA72C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07a9a8b46f_0_60:notes">
            <a:extLst>
              <a:ext uri="{FF2B5EF4-FFF2-40B4-BE49-F238E27FC236}">
                <a16:creationId xmlns:a16="http://schemas.microsoft.com/office/drawing/2014/main" id="{98471BDA-378E-334A-3E75-73269F567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07a9a8b46f_0_60:notes">
            <a:extLst>
              <a:ext uri="{FF2B5EF4-FFF2-40B4-BE49-F238E27FC236}">
                <a16:creationId xmlns:a16="http://schemas.microsoft.com/office/drawing/2014/main" id="{F01F0AF4-E74C-BD0F-04E9-6B8A1B928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523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7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1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2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3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4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5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6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7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8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5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>
            <a:spLocks noGrp="1"/>
          </p:cNvSpPr>
          <p:nvPr>
            <p:ph type="subTitle" idx="1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0" name="Google Shape;300;p36"/>
          <p:cNvSpPr txBox="1">
            <a:spLocks noGrp="1"/>
          </p:cNvSpPr>
          <p:nvPr>
            <p:ph type="subTitle" idx="2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6"/>
          <p:cNvSpPr txBox="1">
            <a:spLocks noGrp="1"/>
          </p:cNvSpPr>
          <p:nvPr>
            <p:ph type="subTitle" idx="3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subTitle" idx="4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subTitle" idx="5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ubTitle" idx="6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subTitle" idx="7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8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8" r:id="rId6"/>
    <p:sldLayoutId id="2147483669" r:id="rId7"/>
    <p:sldLayoutId id="2147483670" r:id="rId8"/>
    <p:sldLayoutId id="2147483682" r:id="rId9"/>
    <p:sldLayoutId id="2147483697" r:id="rId10"/>
    <p:sldLayoutId id="2147483698" r:id="rId11"/>
    <p:sldLayoutId id="2147483699" r:id="rId12"/>
    <p:sldLayoutId id="214748370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6.svg"/><Relationship Id="rId4" Type="http://schemas.openxmlformats.org/officeDocument/2006/relationships/image" Target="../media/image11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2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Telco Customer Churn Analysis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834189" y="3377100"/>
            <a:ext cx="7499685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IN" b="1" dirty="0"/>
              <a:t>A Business Intelligence Dashboard Built Using Microsoft Power BI</a:t>
            </a:r>
            <a:endParaRPr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7E7C90-7A3D-64DA-5134-89F2E9709EBE}"/>
              </a:ext>
            </a:extLst>
          </p:cNvPr>
          <p:cNvSpPr txBox="1"/>
          <p:nvPr/>
        </p:nvSpPr>
        <p:spPr>
          <a:xfrm>
            <a:off x="56147" y="3791534"/>
            <a:ext cx="28795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👤 </a:t>
            </a:r>
            <a:r>
              <a:rPr lang="en-IN" sz="1200" dirty="0">
                <a:latin typeface="+mj-lt"/>
              </a:rPr>
              <a:t>Prepared by </a:t>
            </a:r>
          </a:p>
          <a:p>
            <a:r>
              <a:rPr lang="en-IN" sz="1200" dirty="0">
                <a:latin typeface="+mj-lt"/>
              </a:rPr>
              <a:t>Kaartik Chugh</a:t>
            </a:r>
          </a:p>
          <a:p>
            <a:r>
              <a:rPr lang="en-IN" sz="1200" dirty="0">
                <a:latin typeface="+mj-lt"/>
              </a:rPr>
              <a:t>MBA Candidate</a:t>
            </a:r>
          </a:p>
          <a:p>
            <a:r>
              <a:rPr lang="en-IN" sz="1200" dirty="0">
                <a:latin typeface="+mj-lt"/>
              </a:rPr>
              <a:t>Business &amp; Data Analytics Enthusiast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4"/>
          <p:cNvSpPr txBox="1">
            <a:spLocks noGrp="1"/>
          </p:cNvSpPr>
          <p:nvPr>
            <p:ph type="title"/>
          </p:nvPr>
        </p:nvSpPr>
        <p:spPr>
          <a:xfrm>
            <a:off x="713225" y="421689"/>
            <a:ext cx="336146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IN" dirty="0"/>
              <a:t>Business Problem</a:t>
            </a:r>
            <a:endParaRPr dirty="0"/>
          </a:p>
        </p:txBody>
      </p:sp>
      <p:pic>
        <p:nvPicPr>
          <p:cNvPr id="9" name="Graphic 8" descr="Speaker phone with solid fill">
            <a:extLst>
              <a:ext uri="{FF2B5EF4-FFF2-40B4-BE49-F238E27FC236}">
                <a16:creationId xmlns:a16="http://schemas.microsoft.com/office/drawing/2014/main" id="{7EEEFEC9-AD6F-BBCE-BD61-0769DACF7E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579" y="1204317"/>
            <a:ext cx="465225" cy="465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0BC559-E70F-AC7E-F052-8497EA8CB9EF}"/>
              </a:ext>
            </a:extLst>
          </p:cNvPr>
          <p:cNvSpPr txBox="1"/>
          <p:nvPr/>
        </p:nvSpPr>
        <p:spPr>
          <a:xfrm>
            <a:off x="1532021" y="1251284"/>
            <a:ext cx="1820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Telecom Customers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9F8E39-BD87-26C0-2A48-FF0368D42DDE}"/>
              </a:ext>
            </a:extLst>
          </p:cNvPr>
          <p:cNvCxnSpPr>
            <a:cxnSpLocks/>
          </p:cNvCxnSpPr>
          <p:nvPr/>
        </p:nvCxnSpPr>
        <p:spPr>
          <a:xfrm>
            <a:off x="2286000" y="1577349"/>
            <a:ext cx="0" cy="36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AB92D120-9D3C-E435-11EA-79AB738F5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4922" y="1944830"/>
            <a:ext cx="371882" cy="3718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2EA0C5-9340-6557-7648-87771F14F39A}"/>
              </a:ext>
            </a:extLst>
          </p:cNvPr>
          <p:cNvSpPr txBox="1"/>
          <p:nvPr/>
        </p:nvSpPr>
        <p:spPr>
          <a:xfrm>
            <a:off x="1724525" y="2024241"/>
            <a:ext cx="1692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Churn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2DEE1E-6B0D-42EF-BFEC-54C56C76703C}"/>
              </a:ext>
            </a:extLst>
          </p:cNvPr>
          <p:cNvCxnSpPr>
            <a:cxnSpLocks/>
          </p:cNvCxnSpPr>
          <p:nvPr/>
        </p:nvCxnSpPr>
        <p:spPr>
          <a:xfrm>
            <a:off x="2277979" y="2332018"/>
            <a:ext cx="0" cy="36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Downward trend graph with solid fill">
            <a:extLst>
              <a:ext uri="{FF2B5EF4-FFF2-40B4-BE49-F238E27FC236}">
                <a16:creationId xmlns:a16="http://schemas.microsoft.com/office/drawing/2014/main" id="{BBDF72D0-9612-C3E2-3E3C-C513C4A97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251" y="2767084"/>
            <a:ext cx="465224" cy="4652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5FAA11B-D51E-3664-F2E5-53BA8CD17F57}"/>
              </a:ext>
            </a:extLst>
          </p:cNvPr>
          <p:cNvSpPr txBox="1"/>
          <p:nvPr/>
        </p:nvSpPr>
        <p:spPr>
          <a:xfrm>
            <a:off x="1596189" y="2845808"/>
            <a:ext cx="1692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Loss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EA8CCC-97FE-3EBA-90F5-E648068D4077}"/>
              </a:ext>
            </a:extLst>
          </p:cNvPr>
          <p:cNvCxnSpPr>
            <a:cxnSpLocks/>
          </p:cNvCxnSpPr>
          <p:nvPr/>
        </p:nvCxnSpPr>
        <p:spPr>
          <a:xfrm>
            <a:off x="2277979" y="3232308"/>
            <a:ext cx="0" cy="36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Bar graph with upward trend with solid fill">
            <a:extLst>
              <a:ext uri="{FF2B5EF4-FFF2-40B4-BE49-F238E27FC236}">
                <a16:creationId xmlns:a16="http://schemas.microsoft.com/office/drawing/2014/main" id="{A21276F2-E02D-1DB5-46EE-A299E8370A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4922" y="3523571"/>
            <a:ext cx="417100" cy="417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168F0A1-2F11-CDB6-1E14-5BB1DABDEA1D}"/>
              </a:ext>
            </a:extLst>
          </p:cNvPr>
          <p:cNvSpPr txBox="1"/>
          <p:nvPr/>
        </p:nvSpPr>
        <p:spPr>
          <a:xfrm>
            <a:off x="1580146" y="3608084"/>
            <a:ext cx="249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Higher Acquisition Costs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BEA5FF-96BF-B86E-BF45-A2ED1D1B0135}"/>
              </a:ext>
            </a:extLst>
          </p:cNvPr>
          <p:cNvCxnSpPr>
            <a:cxnSpLocks/>
          </p:cNvCxnSpPr>
          <p:nvPr/>
        </p:nvCxnSpPr>
        <p:spPr>
          <a:xfrm>
            <a:off x="2286000" y="3913894"/>
            <a:ext cx="0" cy="36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454AB928-39AB-6C9C-C4E0-EE80F995F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3148" y="4281375"/>
            <a:ext cx="393041" cy="39304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313E3BF-0DA5-2F32-F519-19E1BA1D0E4D}"/>
              </a:ext>
            </a:extLst>
          </p:cNvPr>
          <p:cNvSpPr txBox="1"/>
          <p:nvPr/>
        </p:nvSpPr>
        <p:spPr>
          <a:xfrm>
            <a:off x="1708488" y="4274201"/>
            <a:ext cx="3288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Need for Data-Driven Retention Strategy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649C00-613E-8D16-6D6B-0FEDB585AC03}"/>
              </a:ext>
            </a:extLst>
          </p:cNvPr>
          <p:cNvSpPr txBox="1"/>
          <p:nvPr/>
        </p:nvSpPr>
        <p:spPr>
          <a:xfrm>
            <a:off x="4312415" y="399390"/>
            <a:ext cx="4582929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dk1"/>
                </a:solidFill>
                <a:latin typeface="Vidaloka" panose="020B0604020202020204" charset="0"/>
                <a:sym typeface="Vidaloka"/>
              </a:rPr>
              <a:t>Business</a:t>
            </a:r>
            <a:r>
              <a:rPr lang="en-IN" sz="2000" dirty="0">
                <a:latin typeface="Vidaloka" panose="020B0604020202020204" charset="0"/>
              </a:rPr>
              <a:t> </a:t>
            </a:r>
            <a:r>
              <a:rPr lang="en-IN" sz="2000" dirty="0">
                <a:solidFill>
                  <a:schemeClr val="dk1"/>
                </a:solidFill>
                <a:latin typeface="Vidaloka" panose="020B0604020202020204" charset="0"/>
                <a:sym typeface="Vidaloka"/>
              </a:rPr>
              <a:t>Challenge</a:t>
            </a:r>
          </a:p>
          <a:p>
            <a:pPr algn="just"/>
            <a:r>
              <a:rPr lang="en-IN" sz="1100" dirty="0"/>
              <a:t>The telecom company is experiencing customer churn, leading to reduced recurring revenue and increased customer acquisition costs.</a:t>
            </a:r>
          </a:p>
          <a:p>
            <a:pPr algn="just"/>
            <a:r>
              <a:rPr lang="en-IN" sz="1100" dirty="0"/>
              <a:t>Without understanding why customers leave, the business cannot implement targeted retention strategies or reduce financial losses.</a:t>
            </a:r>
          </a:p>
          <a:p>
            <a:pPr algn="just"/>
            <a:endParaRPr lang="en-IN" dirty="0"/>
          </a:p>
          <a:p>
            <a:r>
              <a:rPr lang="en-IN" sz="2000" dirty="0">
                <a:solidFill>
                  <a:schemeClr val="dk1"/>
                </a:solidFill>
                <a:latin typeface="Vidaloka"/>
                <a:sym typeface="Vidaloka"/>
              </a:rPr>
              <a:t>Why</a:t>
            </a:r>
            <a:r>
              <a:rPr lang="en-IN" dirty="0"/>
              <a:t> </a:t>
            </a:r>
            <a:r>
              <a:rPr lang="en-IN" sz="2000" dirty="0">
                <a:latin typeface="Vidaloka" panose="020B0604020202020204" charset="0"/>
              </a:rPr>
              <a:t>It Matters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Revenue decreases when customers leave.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Acquiring new customers costs more than retaining existing ones.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High churn affects long-term profitability and customer lifetime value.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Data-driven insights help identify at-risk customer segments.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FE89062-74F1-B37D-4B48-199450A5A2AE}"/>
              </a:ext>
            </a:extLst>
          </p:cNvPr>
          <p:cNvSpPr/>
          <p:nvPr/>
        </p:nvSpPr>
        <p:spPr>
          <a:xfrm>
            <a:off x="4499812" y="3088105"/>
            <a:ext cx="3906248" cy="1220047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D7744C-68DA-8228-82BE-7FFC3FE410A7}"/>
              </a:ext>
            </a:extLst>
          </p:cNvPr>
          <p:cNvSpPr txBox="1"/>
          <p:nvPr/>
        </p:nvSpPr>
        <p:spPr>
          <a:xfrm>
            <a:off x="4636170" y="3235864"/>
            <a:ext cx="3769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customer segments are most likely to churn, and what actions can reduce churn while protecting revenue?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0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Project Objectives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6F281E-941F-367B-6C5E-9C956E93EA0F}"/>
              </a:ext>
            </a:extLst>
          </p:cNvPr>
          <p:cNvSpPr txBox="1"/>
          <p:nvPr/>
        </p:nvSpPr>
        <p:spPr>
          <a:xfrm>
            <a:off x="593558" y="1082842"/>
            <a:ext cx="7130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Define the analytical goals and business outcomes of the customer churn analysis.</a:t>
            </a:r>
          </a:p>
        </p:txBody>
      </p:sp>
      <p:pic>
        <p:nvPicPr>
          <p:cNvPr id="20" name="Graphic 19" descr="Bullseye with solid fill">
            <a:extLst>
              <a:ext uri="{FF2B5EF4-FFF2-40B4-BE49-F238E27FC236}">
                <a16:creationId xmlns:a16="http://schemas.microsoft.com/office/drawing/2014/main" id="{B5594D58-8D61-D560-36A1-406E17B15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1488908"/>
            <a:ext cx="813134" cy="813134"/>
          </a:xfrm>
          <a:prstGeom prst="rect">
            <a:avLst/>
          </a:prstGeom>
        </p:spPr>
      </p:pic>
      <p:pic>
        <p:nvPicPr>
          <p:cNvPr id="22" name="Graphic 21" descr="Bar chart with solid fill">
            <a:extLst>
              <a:ext uri="{FF2B5EF4-FFF2-40B4-BE49-F238E27FC236}">
                <a16:creationId xmlns:a16="http://schemas.microsoft.com/office/drawing/2014/main" id="{3D83A54E-BEA3-9403-40B4-DD34CC49A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3052" y="1488908"/>
            <a:ext cx="813134" cy="813134"/>
          </a:xfrm>
          <a:prstGeom prst="rect">
            <a:avLst/>
          </a:prstGeom>
        </p:spPr>
      </p:pic>
      <p:pic>
        <p:nvPicPr>
          <p:cNvPr id="24" name="Graphic 23" descr="Money with solid fill">
            <a:extLst>
              <a:ext uri="{FF2B5EF4-FFF2-40B4-BE49-F238E27FC236}">
                <a16:creationId xmlns:a16="http://schemas.microsoft.com/office/drawing/2014/main" id="{3304F94A-6426-0F35-2709-0EACFE5E6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074" y="2601668"/>
            <a:ext cx="834921" cy="834921"/>
          </a:xfrm>
          <a:prstGeom prst="rect">
            <a:avLst/>
          </a:prstGeom>
        </p:spPr>
      </p:pic>
      <p:pic>
        <p:nvPicPr>
          <p:cNvPr id="26" name="Graphic 25" descr="Lightbulb with solid fill">
            <a:extLst>
              <a:ext uri="{FF2B5EF4-FFF2-40B4-BE49-F238E27FC236}">
                <a16:creationId xmlns:a16="http://schemas.microsoft.com/office/drawing/2014/main" id="{205D5763-66CA-24B3-E1CC-AA74C4588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5241" y="2700529"/>
            <a:ext cx="740945" cy="74094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B717B80-6089-3F1F-5466-82D1F5085838}"/>
              </a:ext>
            </a:extLst>
          </p:cNvPr>
          <p:cNvSpPr txBox="1"/>
          <p:nvPr/>
        </p:nvSpPr>
        <p:spPr>
          <a:xfrm>
            <a:off x="1881940" y="1587698"/>
            <a:ext cx="195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Churn Drivers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F37F3-D87D-2493-0BB3-8E36E9E7B1F3}"/>
              </a:ext>
            </a:extLst>
          </p:cNvPr>
          <p:cNvSpPr txBox="1"/>
          <p:nvPr/>
        </p:nvSpPr>
        <p:spPr>
          <a:xfrm>
            <a:off x="1812757" y="1954123"/>
            <a:ext cx="27592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Determine the key factors influencing customer churn.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CCCAC0-ADC2-FD06-F3E5-311ADBD07DCD}"/>
              </a:ext>
            </a:extLst>
          </p:cNvPr>
          <p:cNvSpPr txBox="1"/>
          <p:nvPr/>
        </p:nvSpPr>
        <p:spPr>
          <a:xfrm>
            <a:off x="1812757" y="2805127"/>
            <a:ext cx="2550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Analyse Customer Behaviour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10BA50-52DC-A35B-5595-7C228FC6F586}"/>
              </a:ext>
            </a:extLst>
          </p:cNvPr>
          <p:cNvSpPr txBox="1"/>
          <p:nvPr/>
        </p:nvSpPr>
        <p:spPr>
          <a:xfrm>
            <a:off x="1812756" y="3140179"/>
            <a:ext cx="2695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Segment customers based on demographics, services, and contracts.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166078-2E08-3AC9-AA36-B910345FED62}"/>
              </a:ext>
            </a:extLst>
          </p:cNvPr>
          <p:cNvSpPr txBox="1"/>
          <p:nvPr/>
        </p:nvSpPr>
        <p:spPr>
          <a:xfrm>
            <a:off x="5967663" y="1587697"/>
            <a:ext cx="2269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Measure Business Impact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B7065F-2E28-0960-D042-C197EB618B4F}"/>
              </a:ext>
            </a:extLst>
          </p:cNvPr>
          <p:cNvSpPr txBox="1"/>
          <p:nvPr/>
        </p:nvSpPr>
        <p:spPr>
          <a:xfrm>
            <a:off x="5967663" y="1954123"/>
            <a:ext cx="302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Quantify revenue loss and identify customers at financial risk.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89B6DC-9E0B-DB05-86D3-4DF6FDB44E37}"/>
              </a:ext>
            </a:extLst>
          </p:cNvPr>
          <p:cNvSpPr txBox="1"/>
          <p:nvPr/>
        </p:nvSpPr>
        <p:spPr>
          <a:xfrm>
            <a:off x="5967663" y="2832402"/>
            <a:ext cx="2269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 Decision-Making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85FFA0-4FDC-67F9-52D1-3A0CC9A0AAF7}"/>
              </a:ext>
            </a:extLst>
          </p:cNvPr>
          <p:cNvSpPr txBox="1"/>
          <p:nvPr/>
        </p:nvSpPr>
        <p:spPr>
          <a:xfrm>
            <a:off x="6075949" y="3221145"/>
            <a:ext cx="2510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Deliver actionable insights to improve customer retention.</a:t>
            </a:r>
          </a:p>
          <a:p>
            <a:endParaRPr lang="en-IN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4008A09-FD26-D818-3665-CBBD2FFA6050}"/>
              </a:ext>
            </a:extLst>
          </p:cNvPr>
          <p:cNvSpPr/>
          <p:nvPr/>
        </p:nvSpPr>
        <p:spPr>
          <a:xfrm>
            <a:off x="489283" y="3675813"/>
            <a:ext cx="3080085" cy="110503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C1A5A0-8D55-9B0B-9452-6E6C6D3F46AB}"/>
              </a:ext>
            </a:extLst>
          </p:cNvPr>
          <p:cNvSpPr txBox="1"/>
          <p:nvPr/>
        </p:nvSpPr>
        <p:spPr>
          <a:xfrm>
            <a:off x="1000125" y="3682746"/>
            <a:ext cx="2342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Success Criteria</a:t>
            </a:r>
          </a:p>
          <a:p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4E3114-90D9-7032-A61F-1C9ADD181F39}"/>
              </a:ext>
            </a:extLst>
          </p:cNvPr>
          <p:cNvSpPr txBox="1"/>
          <p:nvPr/>
        </p:nvSpPr>
        <p:spPr>
          <a:xfrm>
            <a:off x="645463" y="3994752"/>
            <a:ext cx="316831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IN" sz="1100" dirty="0">
                <a:solidFill>
                  <a:schemeClr val="bg1"/>
                </a:solidFill>
              </a:rPr>
              <a:t>Identify high-risk customer segments</a:t>
            </a:r>
          </a:p>
          <a:p>
            <a:pPr marL="17145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IN" sz="1100" dirty="0">
                <a:solidFill>
                  <a:schemeClr val="bg1"/>
                </a:solidFill>
              </a:rPr>
              <a:t>Quantify revenue at risk</a:t>
            </a:r>
          </a:p>
          <a:p>
            <a:pPr marL="17145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IN" sz="1100" dirty="0">
                <a:solidFill>
                  <a:schemeClr val="bg1"/>
                </a:solidFill>
              </a:rPr>
              <a:t>Enable data-driven retention strategies</a:t>
            </a:r>
          </a:p>
          <a:p>
            <a:pPr>
              <a:buClr>
                <a:schemeClr val="tx2"/>
              </a:buClr>
            </a:pP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/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642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1100"/>
            </a:pPr>
            <a:r>
              <a:rPr lang="en-IN" dirty="0"/>
              <a:t>Dataset Overview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C46B2-814C-DE86-DA27-E4A973572EF1}"/>
              </a:ext>
            </a:extLst>
          </p:cNvPr>
          <p:cNvSpPr txBox="1"/>
          <p:nvPr/>
        </p:nvSpPr>
        <p:spPr>
          <a:xfrm>
            <a:off x="194908" y="1032354"/>
            <a:ext cx="68660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the customer data used to analyse churn behaviour.</a:t>
            </a:r>
          </a:p>
          <a:p>
            <a:endParaRPr lang="en-IN" dirty="0"/>
          </a:p>
        </p:txBody>
      </p:sp>
      <p:pic>
        <p:nvPicPr>
          <p:cNvPr id="18" name="Graphic 17" descr="Users with solid fill">
            <a:extLst>
              <a:ext uri="{FF2B5EF4-FFF2-40B4-BE49-F238E27FC236}">
                <a16:creationId xmlns:a16="http://schemas.microsoft.com/office/drawing/2014/main" id="{ECE2064F-DF56-7009-763B-0C57002DB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84" y="1556903"/>
            <a:ext cx="489285" cy="4892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9ABBA4-8CE8-D1A7-95DD-439DD740B6ED}"/>
              </a:ext>
            </a:extLst>
          </p:cNvPr>
          <p:cNvSpPr txBox="1"/>
          <p:nvPr/>
        </p:nvSpPr>
        <p:spPr>
          <a:xfrm>
            <a:off x="914400" y="1947594"/>
            <a:ext cx="1235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Customers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DDB4D5-A778-C7DC-6C8A-B56990DB0729}"/>
              </a:ext>
            </a:extLst>
          </p:cNvPr>
          <p:cNvSpPr txBox="1"/>
          <p:nvPr/>
        </p:nvSpPr>
        <p:spPr>
          <a:xfrm>
            <a:off x="1187116" y="1609040"/>
            <a:ext cx="1235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7,043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9944134D-82CD-5A23-52B7-F4121B22C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757" y="2302826"/>
            <a:ext cx="489285" cy="48928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DB68E6E-CD0D-F18E-AF4D-433F863F7714}"/>
              </a:ext>
            </a:extLst>
          </p:cNvPr>
          <p:cNvSpPr txBox="1"/>
          <p:nvPr/>
        </p:nvSpPr>
        <p:spPr>
          <a:xfrm>
            <a:off x="1177090" y="2315848"/>
            <a:ext cx="1235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21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77857E-EC48-A920-8B47-E9C3BDF8AD34}"/>
              </a:ext>
            </a:extLst>
          </p:cNvPr>
          <p:cNvSpPr txBox="1"/>
          <p:nvPr/>
        </p:nvSpPr>
        <p:spPr>
          <a:xfrm>
            <a:off x="1098885" y="2547469"/>
            <a:ext cx="1235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9" name="Graphic 28" descr="Bullseye with solid fill">
            <a:extLst>
              <a:ext uri="{FF2B5EF4-FFF2-40B4-BE49-F238E27FC236}">
                <a16:creationId xmlns:a16="http://schemas.microsoft.com/office/drawing/2014/main" id="{5E83951C-08CB-7728-58EB-91D66D3E9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715" y="3023732"/>
            <a:ext cx="481264" cy="4812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E66FEEC-FB5C-6CC8-7B16-EC5E6C4D0D0D}"/>
              </a:ext>
            </a:extLst>
          </p:cNvPr>
          <p:cNvSpPr txBox="1"/>
          <p:nvPr/>
        </p:nvSpPr>
        <p:spPr>
          <a:xfrm>
            <a:off x="1159042" y="3000497"/>
            <a:ext cx="1235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D6458F-727A-01F6-8161-A50BD18F2777}"/>
              </a:ext>
            </a:extLst>
          </p:cNvPr>
          <p:cNvSpPr txBox="1"/>
          <p:nvPr/>
        </p:nvSpPr>
        <p:spPr>
          <a:xfrm>
            <a:off x="1042737" y="3271586"/>
            <a:ext cx="1435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Churn Yes/No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5" name="Graphic 34" descr="Database with solid fill">
            <a:extLst>
              <a:ext uri="{FF2B5EF4-FFF2-40B4-BE49-F238E27FC236}">
                <a16:creationId xmlns:a16="http://schemas.microsoft.com/office/drawing/2014/main" id="{63D66C8E-F3C1-C17D-4908-61EA5EA94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552" y="3673482"/>
            <a:ext cx="585538" cy="5855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F19D2FF-0D9C-AD3C-0C06-A3C7376DDBD1}"/>
              </a:ext>
            </a:extLst>
          </p:cNvPr>
          <p:cNvSpPr txBox="1"/>
          <p:nvPr/>
        </p:nvSpPr>
        <p:spPr>
          <a:xfrm>
            <a:off x="1098885" y="3657940"/>
            <a:ext cx="1235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IBM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A77FFD-9112-902C-9853-05FA21EC5450}"/>
              </a:ext>
            </a:extLst>
          </p:cNvPr>
          <p:cNvSpPr txBox="1"/>
          <p:nvPr/>
        </p:nvSpPr>
        <p:spPr>
          <a:xfrm>
            <a:off x="1098885" y="3980314"/>
            <a:ext cx="1435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Sample Dataset</a:t>
            </a:r>
            <a:endParaRPr lang="en-IN" b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2" name="Graphic 41" descr="Target with solid fill">
            <a:extLst>
              <a:ext uri="{FF2B5EF4-FFF2-40B4-BE49-F238E27FC236}">
                <a16:creationId xmlns:a16="http://schemas.microsoft.com/office/drawing/2014/main" id="{F0991458-77E0-6010-4300-2DC04DF27F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5548189" y="4259020"/>
            <a:ext cx="429699" cy="429699"/>
          </a:xfrm>
          <a:prstGeom prst="rect">
            <a:avLst/>
          </a:prstGeom>
        </p:spPr>
      </p:pic>
      <p:pic>
        <p:nvPicPr>
          <p:cNvPr id="44" name="Graphic 43" descr="Coins with solid fill">
            <a:extLst>
              <a:ext uri="{FF2B5EF4-FFF2-40B4-BE49-F238E27FC236}">
                <a16:creationId xmlns:a16="http://schemas.microsoft.com/office/drawing/2014/main" id="{FD535759-E045-06D4-1F35-EFCE7ACA0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5533196" y="3140389"/>
            <a:ext cx="390749" cy="390749"/>
          </a:xfrm>
          <a:prstGeom prst="rect">
            <a:avLst/>
          </a:prstGeom>
        </p:spPr>
      </p:pic>
      <p:pic>
        <p:nvPicPr>
          <p:cNvPr id="46" name="Graphic 45" descr="Social network with solid fill">
            <a:extLst>
              <a:ext uri="{FF2B5EF4-FFF2-40B4-BE49-F238E27FC236}">
                <a16:creationId xmlns:a16="http://schemas.microsoft.com/office/drawing/2014/main" id="{8B6AAF93-2737-1AA2-4106-FCF1EB575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5494246" y="2215431"/>
            <a:ext cx="429699" cy="429699"/>
          </a:xfrm>
          <a:prstGeom prst="rect">
            <a:avLst/>
          </a:prstGeom>
        </p:spPr>
      </p:pic>
      <p:pic>
        <p:nvPicPr>
          <p:cNvPr id="50" name="Graphic 49" descr="User with solid fill">
            <a:extLst>
              <a:ext uri="{FF2B5EF4-FFF2-40B4-BE49-F238E27FC236}">
                <a16:creationId xmlns:a16="http://schemas.microsoft.com/office/drawing/2014/main" id="{1C987208-04EB-07EC-0F14-39C664084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7859" y="1085819"/>
            <a:ext cx="429698" cy="42969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3BD2ED0-CC14-5C6D-AB8F-7C06B987A725}"/>
              </a:ext>
            </a:extLst>
          </p:cNvPr>
          <p:cNvSpPr txBox="1"/>
          <p:nvPr/>
        </p:nvSpPr>
        <p:spPr>
          <a:xfrm>
            <a:off x="5927557" y="1085819"/>
            <a:ext cx="247622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</a:t>
            </a:r>
            <a:r>
              <a:rPr lang="en-IN" b="1" dirty="0"/>
              <a:t> </a:t>
            </a: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Profile</a:t>
            </a:r>
          </a:p>
          <a:p>
            <a:r>
              <a:rPr lang="en-IN" sz="1100" dirty="0"/>
              <a:t>Gender </a:t>
            </a:r>
          </a:p>
          <a:p>
            <a:r>
              <a:rPr lang="en-IN" sz="1100" dirty="0"/>
              <a:t>Senior Citizen </a:t>
            </a:r>
          </a:p>
          <a:p>
            <a:r>
              <a:rPr lang="en-IN" sz="1100" dirty="0"/>
              <a:t>Partner </a:t>
            </a:r>
          </a:p>
          <a:p>
            <a:r>
              <a:rPr lang="en-IN" sz="1100" dirty="0"/>
              <a:t>Dependents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6877E1-8B91-0B6E-24BF-64C454329735}"/>
              </a:ext>
            </a:extLst>
          </p:cNvPr>
          <p:cNvSpPr txBox="1"/>
          <p:nvPr/>
        </p:nvSpPr>
        <p:spPr>
          <a:xfrm>
            <a:off x="5923945" y="2119667"/>
            <a:ext cx="21175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Services</a:t>
            </a:r>
          </a:p>
          <a:p>
            <a:r>
              <a:rPr lang="en-IN" sz="1100" dirty="0"/>
              <a:t>Internet Service </a:t>
            </a:r>
          </a:p>
          <a:p>
            <a:r>
              <a:rPr lang="en-IN" sz="1100" dirty="0"/>
              <a:t>Phone Service </a:t>
            </a:r>
          </a:p>
          <a:p>
            <a:r>
              <a:rPr lang="en-IN" sz="1100" dirty="0"/>
              <a:t>Tech Support </a:t>
            </a:r>
          </a:p>
          <a:p>
            <a:r>
              <a:rPr lang="en-IN" sz="1100" dirty="0"/>
              <a:t>Online Security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539A23-FA92-17D0-F2BC-F14AF1F796D6}"/>
              </a:ext>
            </a:extLst>
          </p:cNvPr>
          <p:cNvSpPr txBox="1"/>
          <p:nvPr/>
        </p:nvSpPr>
        <p:spPr>
          <a:xfrm>
            <a:off x="6031832" y="3140389"/>
            <a:ext cx="180914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Account &amp; Financial</a:t>
            </a:r>
          </a:p>
          <a:p>
            <a:r>
              <a:rPr lang="en-IN" sz="1100" dirty="0"/>
              <a:t>Contract </a:t>
            </a:r>
          </a:p>
          <a:p>
            <a:r>
              <a:rPr lang="en-IN" sz="1100" dirty="0"/>
              <a:t>Payment Method </a:t>
            </a:r>
          </a:p>
          <a:p>
            <a:r>
              <a:rPr lang="en-IN" sz="1100" dirty="0"/>
              <a:t>Monthly Charges </a:t>
            </a:r>
          </a:p>
          <a:p>
            <a:r>
              <a:rPr lang="en-IN" sz="1100" dirty="0"/>
              <a:t>Total Charges </a:t>
            </a:r>
          </a:p>
          <a:p>
            <a:r>
              <a:rPr lang="en-IN" sz="1100" dirty="0"/>
              <a:t>Tenure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810BE9-4C19-B8ED-60C7-47C1827A5CC3}"/>
              </a:ext>
            </a:extLst>
          </p:cNvPr>
          <p:cNvSpPr txBox="1"/>
          <p:nvPr/>
        </p:nvSpPr>
        <p:spPr>
          <a:xfrm>
            <a:off x="6000145" y="4259020"/>
            <a:ext cx="19651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Variable</a:t>
            </a:r>
          </a:p>
          <a:p>
            <a:r>
              <a:rPr lang="en-IN" sz="1100" dirty="0"/>
              <a:t>Customer Churn (Yes/No)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Project Methodology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BE326-EB97-B3B5-AE6C-8AE09493196C}"/>
              </a:ext>
            </a:extLst>
          </p:cNvPr>
          <p:cNvSpPr txBox="1"/>
          <p:nvPr/>
        </p:nvSpPr>
        <p:spPr>
          <a:xfrm>
            <a:off x="625642" y="1074822"/>
            <a:ext cx="8285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structured approach was followed to transform raw customer data into actionable business insights.</a:t>
            </a:r>
          </a:p>
        </p:txBody>
      </p:sp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3F47BFF3-0734-0022-13B5-F50DF0924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280" y="1443091"/>
            <a:ext cx="312226" cy="312226"/>
          </a:xfrm>
          <a:prstGeom prst="rect">
            <a:avLst/>
          </a:prstGeom>
        </p:spPr>
      </p:pic>
      <p:pic>
        <p:nvPicPr>
          <p:cNvPr id="6" name="Graphic 5" descr="Large paint brush with solid fill">
            <a:extLst>
              <a:ext uri="{FF2B5EF4-FFF2-40B4-BE49-F238E27FC236}">
                <a16:creationId xmlns:a16="http://schemas.microsoft.com/office/drawing/2014/main" id="{B9B91A9F-7AAF-EFFA-C177-0F77AD15E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4198" y="1493118"/>
            <a:ext cx="312226" cy="312226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23FE00D7-64B8-B2BE-5B2E-060F2AB5E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280" y="2138909"/>
            <a:ext cx="312226" cy="312226"/>
          </a:xfrm>
          <a:prstGeom prst="rect">
            <a:avLst/>
          </a:prstGeom>
        </p:spPr>
      </p:pic>
      <p:pic>
        <p:nvPicPr>
          <p:cNvPr id="10" name="Graphic 9" descr="Ruler with solid fill">
            <a:extLst>
              <a:ext uri="{FF2B5EF4-FFF2-40B4-BE49-F238E27FC236}">
                <a16:creationId xmlns:a16="http://schemas.microsoft.com/office/drawing/2014/main" id="{C724693C-6D5A-8204-1ED4-5D8AA5651E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289" y="2768429"/>
            <a:ext cx="312226" cy="312226"/>
          </a:xfrm>
          <a:prstGeom prst="rect">
            <a:avLst/>
          </a:prstGeom>
        </p:spPr>
      </p:pic>
      <p:pic>
        <p:nvPicPr>
          <p:cNvPr id="12" name="Graphic 11" descr="Bar chart with solid fill">
            <a:extLst>
              <a:ext uri="{FF2B5EF4-FFF2-40B4-BE49-F238E27FC236}">
                <a16:creationId xmlns:a16="http://schemas.microsoft.com/office/drawing/2014/main" id="{771A501A-1EF8-FAB0-F84F-45F1301AC3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8324" y="2148638"/>
            <a:ext cx="312226" cy="312226"/>
          </a:xfrm>
          <a:prstGeom prst="rect">
            <a:avLst/>
          </a:prstGeom>
        </p:spPr>
      </p:pic>
      <p:pic>
        <p:nvPicPr>
          <p:cNvPr id="14" name="Graphic 13" descr="Lightbulb with solid fill">
            <a:extLst>
              <a:ext uri="{FF2B5EF4-FFF2-40B4-BE49-F238E27FC236}">
                <a16:creationId xmlns:a16="http://schemas.microsoft.com/office/drawing/2014/main" id="{E8F525A6-A4C7-FB47-3103-F74A35EBD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8085" y="2887155"/>
            <a:ext cx="312226" cy="3122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DB4855-58E6-1498-64D0-716DFB38B37F}"/>
              </a:ext>
            </a:extLst>
          </p:cNvPr>
          <p:cNvSpPr txBox="1"/>
          <p:nvPr/>
        </p:nvSpPr>
        <p:spPr>
          <a:xfrm>
            <a:off x="1134977" y="1397546"/>
            <a:ext cx="311482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IN" sz="1050" dirty="0"/>
              <a:t>Imported IBM Telco Customer Churn dataset.</a:t>
            </a:r>
            <a:endParaRPr lang="en-IN"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9F2B60-0D78-BE39-7B7B-B1CB7AD878C0}"/>
              </a:ext>
            </a:extLst>
          </p:cNvPr>
          <p:cNvSpPr txBox="1"/>
          <p:nvPr/>
        </p:nvSpPr>
        <p:spPr>
          <a:xfrm>
            <a:off x="5317957" y="1397546"/>
            <a:ext cx="3569367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Cleaning</a:t>
            </a:r>
          </a:p>
          <a:p>
            <a:r>
              <a:rPr lang="en-IN" sz="1000" dirty="0"/>
              <a:t>Handled missing values and corrected data types.</a:t>
            </a:r>
          </a:p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233A72-931B-C30D-68DB-C926DAE8D929}"/>
              </a:ext>
            </a:extLst>
          </p:cNvPr>
          <p:cNvSpPr txBox="1"/>
          <p:nvPr/>
        </p:nvSpPr>
        <p:spPr>
          <a:xfrm>
            <a:off x="1134977" y="2108838"/>
            <a:ext cx="3200700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Transformation</a:t>
            </a:r>
          </a:p>
          <a:p>
            <a:r>
              <a:rPr lang="en-IN" sz="1050" dirty="0"/>
              <a:t>Prepared and structured data using Power Query.</a:t>
            </a: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F4DF2B-9961-D474-0E9B-3BB21CF54C3E}"/>
              </a:ext>
            </a:extLst>
          </p:cNvPr>
          <p:cNvSpPr txBox="1"/>
          <p:nvPr/>
        </p:nvSpPr>
        <p:spPr>
          <a:xfrm>
            <a:off x="1026669" y="2730022"/>
            <a:ext cx="354530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DAX Measures</a:t>
            </a:r>
          </a:p>
          <a:p>
            <a:r>
              <a:rPr lang="en-IN" sz="1100" dirty="0"/>
              <a:t>Created KPIs and calculated business metrics.</a:t>
            </a: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79DF97-D762-0C2B-CC2F-20CEE984CCDC}"/>
              </a:ext>
            </a:extLst>
          </p:cNvPr>
          <p:cNvSpPr txBox="1"/>
          <p:nvPr/>
        </p:nvSpPr>
        <p:spPr>
          <a:xfrm>
            <a:off x="5317957" y="2108838"/>
            <a:ext cx="275122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Dashboard Development</a:t>
            </a:r>
          </a:p>
          <a:p>
            <a:r>
              <a:rPr lang="en-IN" sz="1050" dirty="0"/>
              <a:t>Designed interactive Power BI dashboards.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71E73C-0F7C-42F1-C2B6-9E80C0993B75}"/>
              </a:ext>
            </a:extLst>
          </p:cNvPr>
          <p:cNvSpPr txBox="1"/>
          <p:nvPr/>
        </p:nvSpPr>
        <p:spPr>
          <a:xfrm>
            <a:off x="5206424" y="2827727"/>
            <a:ext cx="2606843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Business Insights</a:t>
            </a:r>
          </a:p>
          <a:p>
            <a:r>
              <a:rPr lang="en-IN" sz="1050" dirty="0"/>
              <a:t>Identified churn patterns and business recommendations.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Executive Dashboard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09BB8-FA47-F9B0-2F6D-40F5D3964741}"/>
              </a:ext>
            </a:extLst>
          </p:cNvPr>
          <p:cNvSpPr txBox="1"/>
          <p:nvPr/>
        </p:nvSpPr>
        <p:spPr>
          <a:xfrm>
            <a:off x="6489031" y="1130968"/>
            <a:ext cx="25827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Highlights </a:t>
            </a:r>
          </a:p>
          <a:p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26.58%</a:t>
            </a:r>
            <a:r>
              <a:rPr lang="en-IN" dirty="0"/>
              <a:t> overall customer churn rate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5.16K</a:t>
            </a:r>
            <a:r>
              <a:rPr lang="en-IN" dirty="0"/>
              <a:t> active customers retained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139K</a:t>
            </a:r>
            <a:r>
              <a:rPr lang="en-IN" dirty="0"/>
              <a:t> revenue currently at risk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Average customer tenure of </a:t>
            </a:r>
            <a:r>
              <a:rPr lang="en-IN" b="1" dirty="0"/>
              <a:t>32.4 months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D8E1C9-1684-D534-E1D2-DE2A426FE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89" y="1085475"/>
            <a:ext cx="6093028" cy="3431075"/>
          </a:xfrm>
          <a:prstGeom prst="rect">
            <a:avLst/>
          </a:prstGeom>
          <a:ln w="28575" cap="rnd">
            <a:solidFill>
              <a:srgbClr val="00206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E12E83-BDF6-11D4-7A6E-CD8BC28B2650}"/>
              </a:ext>
            </a:extLst>
          </p:cNvPr>
          <p:cNvSpPr txBox="1"/>
          <p:nvPr/>
        </p:nvSpPr>
        <p:spPr>
          <a:xfrm>
            <a:off x="6489031" y="3721768"/>
            <a:ext cx="2379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Microsoft Power BI Dashboard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B31EE075-5EDD-860B-5A77-35344865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A9F80DDD-D928-4C24-19CD-EAFBF75DA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Customer Churn Analysis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16243-1B72-E00B-F1B6-6E6752D1DE2D}"/>
              </a:ext>
            </a:extLst>
          </p:cNvPr>
          <p:cNvSpPr txBox="1"/>
          <p:nvPr/>
        </p:nvSpPr>
        <p:spPr>
          <a:xfrm>
            <a:off x="6184233" y="1130968"/>
            <a:ext cx="283945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Highlights </a:t>
            </a:r>
          </a:p>
          <a:p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Month-to-month contracts have the highest churn.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Customers within the first 12 months are most likely to leave.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Customers without partners exhibit higher churn.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Senior citizens experience a relatively higher churn rate.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761C2-55FB-BFF7-FF51-C9FE9D0EF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2" y="1118534"/>
            <a:ext cx="5943602" cy="3293868"/>
          </a:xfrm>
          <a:prstGeom prst="rect">
            <a:avLst/>
          </a:prstGeom>
          <a:solidFill>
            <a:srgbClr val="00206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8FF000-F34D-8A72-7EE1-51E565A88CAB}"/>
              </a:ext>
            </a:extLst>
          </p:cNvPr>
          <p:cNvSpPr txBox="1"/>
          <p:nvPr/>
        </p:nvSpPr>
        <p:spPr>
          <a:xfrm>
            <a:off x="6414319" y="4012532"/>
            <a:ext cx="2379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Microsoft Power BI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474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1115F9-7573-211C-E41D-28ED4E26C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6B34E0FD-16A2-CE01-D5A6-22F13242C1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Customer Churn Analysis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813DD-C596-D5CF-89B5-FCDE00294661}"/>
              </a:ext>
            </a:extLst>
          </p:cNvPr>
          <p:cNvSpPr txBox="1"/>
          <p:nvPr/>
        </p:nvSpPr>
        <p:spPr>
          <a:xfrm>
            <a:off x="6184233" y="1130968"/>
            <a:ext cx="283945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Highlights </a:t>
            </a:r>
          </a:p>
          <a:p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Month-to-month contracts have the highest churn.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Customers within the first 12 months are most likely to leave.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Customers without partners exhibit higher churn.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Senior citizens experience a relatively higher churn rate.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718DA-DD4C-A45A-426C-B1FAA721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58" y="1371599"/>
            <a:ext cx="5541374" cy="27797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212262-8042-9743-633F-FB9309385B1E}"/>
              </a:ext>
            </a:extLst>
          </p:cNvPr>
          <p:cNvSpPr txBox="1"/>
          <p:nvPr/>
        </p:nvSpPr>
        <p:spPr>
          <a:xfrm>
            <a:off x="6414319" y="3968891"/>
            <a:ext cx="2379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Microsoft Power BI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28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Key Findings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64625-AED7-C082-46BF-961FFF8D79A6}"/>
              </a:ext>
            </a:extLst>
          </p:cNvPr>
          <p:cNvSpPr txBox="1"/>
          <p:nvPr/>
        </p:nvSpPr>
        <p:spPr>
          <a:xfrm>
            <a:off x="1604210" y="1168065"/>
            <a:ext cx="5662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Highest Churn</a:t>
            </a:r>
          </a:p>
          <a:p>
            <a:r>
              <a:rPr lang="en-IN" sz="1200" dirty="0"/>
              <a:t>Month-to-month contracts experience the highest customer churn.</a:t>
            </a:r>
          </a:p>
          <a:p>
            <a:endParaRPr lang="en-IN" sz="1200" dirty="0"/>
          </a:p>
        </p:txBody>
      </p:sp>
      <p:pic>
        <p:nvPicPr>
          <p:cNvPr id="4" name="Graphic 3" descr="Upward trend with solid fill">
            <a:extLst>
              <a:ext uri="{FF2B5EF4-FFF2-40B4-BE49-F238E27FC236}">
                <a16:creationId xmlns:a16="http://schemas.microsoft.com/office/drawing/2014/main" id="{5C0945AE-873E-38EA-D120-0D130CB816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882" y="1168065"/>
            <a:ext cx="390792" cy="390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83CC0A-2302-6913-B3D5-875CE236B148}"/>
              </a:ext>
            </a:extLst>
          </p:cNvPr>
          <p:cNvSpPr txBox="1"/>
          <p:nvPr/>
        </p:nvSpPr>
        <p:spPr>
          <a:xfrm>
            <a:off x="1604209" y="1829574"/>
            <a:ext cx="566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Early Customer Loss</a:t>
            </a:r>
          </a:p>
          <a:p>
            <a:r>
              <a:rPr lang="en-IN" sz="1200" dirty="0"/>
              <a:t>Most customers who churn leave within their first year.</a:t>
            </a:r>
          </a:p>
        </p:txBody>
      </p:sp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F1CCD1DD-C998-174E-6052-C0EF7AAF5A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882" y="1900447"/>
            <a:ext cx="390792" cy="390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964416-C7AD-7D0E-9F13-2A861F7FF064}"/>
              </a:ext>
            </a:extLst>
          </p:cNvPr>
          <p:cNvSpPr txBox="1"/>
          <p:nvPr/>
        </p:nvSpPr>
        <p:spPr>
          <a:xfrm>
            <a:off x="1604209" y="2585195"/>
            <a:ext cx="5398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High-Risk Segments</a:t>
            </a:r>
          </a:p>
          <a:p>
            <a:r>
              <a:rPr lang="en-IN" sz="1200" dirty="0"/>
              <a:t>Senior citizens and customers without partners exhibit relatively higher churn.</a:t>
            </a:r>
          </a:p>
        </p:txBody>
      </p:sp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0704996B-78AB-F9F9-A6AB-DA9A45052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882" y="2571750"/>
            <a:ext cx="390792" cy="3907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AEF365-4671-A505-9A06-89807528A0E9}"/>
              </a:ext>
            </a:extLst>
          </p:cNvPr>
          <p:cNvSpPr txBox="1"/>
          <p:nvPr/>
        </p:nvSpPr>
        <p:spPr>
          <a:xfrm>
            <a:off x="1604209" y="3186774"/>
            <a:ext cx="5398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Revenue at Risk</a:t>
            </a:r>
          </a:p>
          <a:p>
            <a:r>
              <a:rPr lang="en-IN" sz="1200" dirty="0"/>
              <a:t>Approximately 139K in revenue is associated with customers at risk of churn.</a:t>
            </a:r>
          </a:p>
        </p:txBody>
      </p:sp>
      <p:pic>
        <p:nvPicPr>
          <p:cNvPr id="16" name="Graphic 15" descr="Dollar with solid fill">
            <a:extLst>
              <a:ext uri="{FF2B5EF4-FFF2-40B4-BE49-F238E27FC236}">
                <a16:creationId xmlns:a16="http://schemas.microsoft.com/office/drawing/2014/main" id="{29FAB8AB-B9D1-58D0-20F0-6A4360F50F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604" y="3229941"/>
            <a:ext cx="465070" cy="4650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2430B7-7FFE-3650-0C4E-F82145CF5107}"/>
              </a:ext>
            </a:extLst>
          </p:cNvPr>
          <p:cNvSpPr txBox="1"/>
          <p:nvPr/>
        </p:nvSpPr>
        <p:spPr>
          <a:xfrm>
            <a:off x="1540041" y="3744602"/>
            <a:ext cx="5727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Business Opportunity</a:t>
            </a:r>
          </a:p>
          <a:p>
            <a:r>
              <a:rPr lang="en-IN" sz="1200" dirty="0"/>
              <a:t>Targeted retention strategies can reduce churn and improve long-term customer value.</a:t>
            </a:r>
          </a:p>
        </p:txBody>
      </p:sp>
      <p:pic>
        <p:nvPicPr>
          <p:cNvPr id="20" name="Graphic 19" descr="Bullseye with solid fill">
            <a:extLst>
              <a:ext uri="{FF2B5EF4-FFF2-40B4-BE49-F238E27FC236}">
                <a16:creationId xmlns:a16="http://schemas.microsoft.com/office/drawing/2014/main" id="{7AEFF756-04CC-E4E1-FAB2-C1BD63D2B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969" y="3901244"/>
            <a:ext cx="402705" cy="402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1C424102-1798-3076-3E90-BAAAC9C1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5">
            <a:extLst>
              <a:ext uri="{FF2B5EF4-FFF2-40B4-BE49-F238E27FC236}">
                <a16:creationId xmlns:a16="http://schemas.microsoft.com/office/drawing/2014/main" id="{3A9EE927-4C27-3A38-E1AF-FF800C049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Business Recommendations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271E2-3452-5FD3-96ED-C2DAAFC3CC49}"/>
              </a:ext>
            </a:extLst>
          </p:cNvPr>
          <p:cNvSpPr txBox="1"/>
          <p:nvPr/>
        </p:nvSpPr>
        <p:spPr>
          <a:xfrm>
            <a:off x="1604210" y="1168065"/>
            <a:ext cx="650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Promote Long-Term Contracts</a:t>
            </a:r>
          </a:p>
          <a:p>
            <a:r>
              <a:rPr lang="en-IN" sz="1200" dirty="0"/>
              <a:t>Encourage customers on month-to-month plans to switch to annual or multi-year contracts through discounts and loyalty incentives.</a:t>
            </a:r>
          </a:p>
        </p:txBody>
      </p:sp>
      <p:pic>
        <p:nvPicPr>
          <p:cNvPr id="4" name="Graphic 3" descr="Document with solid fill">
            <a:extLst>
              <a:ext uri="{FF2B5EF4-FFF2-40B4-BE49-F238E27FC236}">
                <a16:creationId xmlns:a16="http://schemas.microsoft.com/office/drawing/2014/main" id="{D32E4C4B-8BAF-E1AC-7FC3-0234214AA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8882" y="1168065"/>
            <a:ext cx="390792" cy="390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3969CD-9F73-F169-96FC-36E79D81E96A}"/>
              </a:ext>
            </a:extLst>
          </p:cNvPr>
          <p:cNvSpPr txBox="1"/>
          <p:nvPr/>
        </p:nvSpPr>
        <p:spPr>
          <a:xfrm>
            <a:off x="1604209" y="1829574"/>
            <a:ext cx="650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Improve First-Year Customer Experience</a:t>
            </a:r>
          </a:p>
          <a:p>
            <a:r>
              <a:rPr lang="en-IN" sz="1200" dirty="0"/>
              <a:t>Strengthen onboarding, proactive communication, and customer engagement during the first 12 months to reduce early churn.</a:t>
            </a:r>
          </a:p>
        </p:txBody>
      </p:sp>
      <p:pic>
        <p:nvPicPr>
          <p:cNvPr id="8" name="Graphic 7" descr="Daily calendar with solid fill">
            <a:extLst>
              <a:ext uri="{FF2B5EF4-FFF2-40B4-BE49-F238E27FC236}">
                <a16:creationId xmlns:a16="http://schemas.microsoft.com/office/drawing/2014/main" id="{D195C675-1C9C-C79B-854B-423F33D93F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8882" y="1900447"/>
            <a:ext cx="390792" cy="390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4DC25B-5630-1BB5-B423-AF25B3660E68}"/>
              </a:ext>
            </a:extLst>
          </p:cNvPr>
          <p:cNvSpPr txBox="1"/>
          <p:nvPr/>
        </p:nvSpPr>
        <p:spPr>
          <a:xfrm>
            <a:off x="1604209" y="2493547"/>
            <a:ext cx="650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Target High-Risk Customer Segments</a:t>
            </a:r>
          </a:p>
          <a:p>
            <a:r>
              <a:rPr lang="en-IN" sz="1200" dirty="0"/>
              <a:t>Develop personalized retention campaigns for senior citizens and customers without partners using targeted offers and support.</a:t>
            </a:r>
          </a:p>
        </p:txBody>
      </p:sp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8E8224D0-131C-AA48-6798-E9D08E25D4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882" y="2571750"/>
            <a:ext cx="390792" cy="3907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856104-9681-F5A5-495E-06E598688DFA}"/>
              </a:ext>
            </a:extLst>
          </p:cNvPr>
          <p:cNvSpPr txBox="1"/>
          <p:nvPr/>
        </p:nvSpPr>
        <p:spPr>
          <a:xfrm>
            <a:off x="1604209" y="3124380"/>
            <a:ext cx="682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Prioritize High-Value Customers</a:t>
            </a:r>
          </a:p>
          <a:p>
            <a:r>
              <a:rPr lang="en-IN" sz="1200" dirty="0"/>
              <a:t>Monitor customers with higher revenue contribution and implement proactive retention strategies before churn occurs.</a:t>
            </a:r>
          </a:p>
        </p:txBody>
      </p:sp>
      <p:pic>
        <p:nvPicPr>
          <p:cNvPr id="16" name="Graphic 15" descr="Dollar with solid fill">
            <a:extLst>
              <a:ext uri="{FF2B5EF4-FFF2-40B4-BE49-F238E27FC236}">
                <a16:creationId xmlns:a16="http://schemas.microsoft.com/office/drawing/2014/main" id="{30E97158-A855-CE14-15F8-08C2E673EB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786" y="3217482"/>
            <a:ext cx="465070" cy="4650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A6D7D3-1F63-A15F-DB97-7CBB88B90E12}"/>
              </a:ext>
            </a:extLst>
          </p:cNvPr>
          <p:cNvSpPr txBox="1"/>
          <p:nvPr/>
        </p:nvSpPr>
        <p:spPr>
          <a:xfrm>
            <a:off x="1604209" y="3779430"/>
            <a:ext cx="682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Enhance Value-Added Services</a:t>
            </a:r>
          </a:p>
          <a:p>
            <a:r>
              <a:rPr lang="en-IN" sz="1200" dirty="0"/>
              <a:t>Promote services such as Tech Support and Online Security through bundled plans to increase customer satisfaction and loyalty.</a:t>
            </a:r>
          </a:p>
        </p:txBody>
      </p:sp>
      <p:pic>
        <p:nvPicPr>
          <p:cNvPr id="20" name="Graphic 19" descr="Pin with solid fill">
            <a:extLst>
              <a:ext uri="{FF2B5EF4-FFF2-40B4-BE49-F238E27FC236}">
                <a16:creationId xmlns:a16="http://schemas.microsoft.com/office/drawing/2014/main" id="{47F1B258-6743-0667-09AB-3B5D9FAF4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26969" y="3901244"/>
            <a:ext cx="402705" cy="40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3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>
          <a:extLst>
            <a:ext uri="{FF2B5EF4-FFF2-40B4-BE49-F238E27FC236}">
              <a16:creationId xmlns:a16="http://schemas.microsoft.com/office/drawing/2014/main" id="{564B599C-7AC0-F9FA-A748-A335271A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>
            <a:extLst>
              <a:ext uri="{FF2B5EF4-FFF2-40B4-BE49-F238E27FC236}">
                <a16:creationId xmlns:a16="http://schemas.microsoft.com/office/drawing/2014/main" id="{8812BDBA-086A-A1B2-72F0-0458F659DF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642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1100"/>
            </a:pPr>
            <a:r>
              <a:rPr lang="en-IN" dirty="0"/>
              <a:t>Project Summary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539A08-1BB7-5E9F-59DF-F6C2376E7FAB}"/>
              </a:ext>
            </a:extLst>
          </p:cNvPr>
          <p:cNvSpPr txBox="1"/>
          <p:nvPr/>
        </p:nvSpPr>
        <p:spPr>
          <a:xfrm>
            <a:off x="194908" y="1032354"/>
            <a:ext cx="8507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Project outcomes and technologies used throughout the analysis.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AB705-33A7-33FE-3157-7A0F297A9660}"/>
              </a:ext>
            </a:extLst>
          </p:cNvPr>
          <p:cNvSpPr txBox="1"/>
          <p:nvPr/>
        </p:nvSpPr>
        <p:spPr>
          <a:xfrm>
            <a:off x="194908" y="1549838"/>
            <a:ext cx="42190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B050"/>
              </a:buClr>
              <a:buSzPct val="111000"/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Outcome</a:t>
            </a:r>
          </a:p>
          <a:p>
            <a:pPr algn="ctr">
              <a:buClr>
                <a:srgbClr val="00B050"/>
              </a:buClr>
              <a:buSzPct val="111000"/>
            </a:pP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Clr>
                <a:srgbClr val="00B050"/>
              </a:buClr>
              <a:buSzPct val="115000"/>
              <a:buFont typeface="Wingdings" panose="05000000000000000000" pitchFamily="2" charset="2"/>
              <a:buChar char="ü"/>
            </a:pPr>
            <a:r>
              <a:rPr lang="en-IN" sz="1200" dirty="0"/>
              <a:t>Successfully </a:t>
            </a:r>
            <a:r>
              <a:rPr lang="en-IN" sz="1200" dirty="0" err="1"/>
              <a:t>analyzed</a:t>
            </a:r>
            <a:r>
              <a:rPr lang="en-IN" sz="1200" dirty="0"/>
              <a:t> customer churn patterns and key business drivers.</a:t>
            </a:r>
          </a:p>
          <a:p>
            <a:pPr marL="171450" indent="-171450">
              <a:buClr>
                <a:srgbClr val="00B050"/>
              </a:buClr>
              <a:buSzPct val="115000"/>
              <a:buFont typeface="Wingdings" panose="05000000000000000000" pitchFamily="2" charset="2"/>
              <a:buChar char="ü"/>
            </a:pPr>
            <a:r>
              <a:rPr lang="en-IN" sz="1200" dirty="0"/>
              <a:t>Built an interactive Power BI dashboard. </a:t>
            </a:r>
          </a:p>
          <a:p>
            <a:pPr marL="171450" indent="-171450">
              <a:buClr>
                <a:srgbClr val="00B050"/>
              </a:buClr>
              <a:buSzPct val="115000"/>
              <a:buFont typeface="Wingdings" panose="05000000000000000000" pitchFamily="2" charset="2"/>
              <a:buChar char="ü"/>
            </a:pPr>
            <a:r>
              <a:rPr lang="en-IN" sz="1200" dirty="0"/>
              <a:t>Identified key business insights. </a:t>
            </a:r>
          </a:p>
          <a:p>
            <a:pPr marL="171450" indent="-171450">
              <a:buClr>
                <a:srgbClr val="00B050"/>
              </a:buClr>
              <a:buSzPct val="115000"/>
              <a:buFont typeface="Wingdings" panose="05000000000000000000" pitchFamily="2" charset="2"/>
              <a:buChar char="ü"/>
            </a:pPr>
            <a:r>
              <a:rPr lang="en-IN" sz="1200" dirty="0"/>
              <a:t>Developed data-driven recommendations.</a:t>
            </a:r>
          </a:p>
          <a:p>
            <a:pPr marL="171450" indent="-171450">
              <a:buClr>
                <a:srgbClr val="00B050"/>
              </a:buClr>
              <a:buSzPct val="115000"/>
              <a:buFont typeface="Wingdings" panose="05000000000000000000" pitchFamily="2" charset="2"/>
              <a:buChar char="ü"/>
            </a:pPr>
            <a:r>
              <a:rPr lang="en-IN" sz="1200" dirty="0"/>
              <a:t> Demonstrated business-focused analytical storytelling.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BAE49-1909-5A99-9636-5D83A63A7948}"/>
              </a:ext>
            </a:extLst>
          </p:cNvPr>
          <p:cNvSpPr txBox="1"/>
          <p:nvPr/>
        </p:nvSpPr>
        <p:spPr>
          <a:xfrm>
            <a:off x="4331368" y="1475873"/>
            <a:ext cx="47003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&amp; Technologies</a:t>
            </a:r>
          </a:p>
          <a:p>
            <a:pPr algn="ctr"/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Clr>
                <a:srgbClr val="FF66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IN" sz="1200" dirty="0"/>
              <a:t>Microsoft Power BI </a:t>
            </a:r>
          </a:p>
          <a:p>
            <a:pPr marL="285750" indent="-285750">
              <a:buClr>
                <a:srgbClr val="FF66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IN" sz="1200" dirty="0"/>
              <a:t>Power Query </a:t>
            </a:r>
          </a:p>
          <a:p>
            <a:pPr marL="285750" indent="-285750">
              <a:buClr>
                <a:srgbClr val="FF66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IN" sz="1200" dirty="0"/>
              <a:t>DAX </a:t>
            </a:r>
          </a:p>
          <a:p>
            <a:pPr marL="285750" indent="-285750">
              <a:buClr>
                <a:srgbClr val="FF66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IN" sz="1200" dirty="0"/>
              <a:t>Microsoft Excel </a:t>
            </a:r>
          </a:p>
          <a:p>
            <a:pPr marL="285750" indent="-285750">
              <a:buClr>
                <a:srgbClr val="FF66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IN" sz="1200" dirty="0"/>
              <a:t>IBM Telco Customer Churn Dataset (Sample Data)</a:t>
            </a:r>
          </a:p>
          <a:p>
            <a:pPr marL="285750" indent="-285750">
              <a:buClr>
                <a:srgbClr val="FF66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IN" sz="1200" dirty="0"/>
              <a:t>Microsoft PowerPoint</a:t>
            </a:r>
            <a:endParaRPr lang="en-IN" sz="1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9B4D4-0E7F-7B74-A98E-49BB8C30AFBD}"/>
              </a:ext>
            </a:extLst>
          </p:cNvPr>
          <p:cNvSpPr txBox="1"/>
          <p:nvPr/>
        </p:nvSpPr>
        <p:spPr>
          <a:xfrm>
            <a:off x="329411" y="3747683"/>
            <a:ext cx="749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project demonstrates how data-driven analytics can support strategic business decisions and improve customer retention</a:t>
            </a:r>
          </a:p>
        </p:txBody>
      </p:sp>
    </p:spTree>
    <p:extLst>
      <p:ext uri="{BB962C8B-B14F-4D97-AF65-F5344CB8AC3E}">
        <p14:creationId xmlns:p14="http://schemas.microsoft.com/office/powerpoint/2010/main" val="116905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718</Words>
  <Application>Microsoft Office PowerPoint</Application>
  <PresentationFormat>On-screen Show (16:9)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Vidaloka</vt:lpstr>
      <vt:lpstr>Arial</vt:lpstr>
      <vt:lpstr>Montserrat</vt:lpstr>
      <vt:lpstr>Merriweather Light</vt:lpstr>
      <vt:lpstr>Wingdings</vt:lpstr>
      <vt:lpstr>Lato</vt:lpstr>
      <vt:lpstr>Minimalist Business Slides XL by Slidesgo</vt:lpstr>
      <vt:lpstr>Telco Customer Churn Analysis</vt:lpstr>
      <vt:lpstr>Business Problem</vt:lpstr>
      <vt:lpstr>Project Objectives</vt:lpstr>
      <vt:lpstr>Dataset Overview</vt:lpstr>
      <vt:lpstr>Project Methodology</vt:lpstr>
      <vt:lpstr>Executive Dashboard</vt:lpstr>
      <vt:lpstr>Customer Churn Analysis </vt:lpstr>
      <vt:lpstr>Customer Churn Analysis </vt:lpstr>
      <vt:lpstr>Key Findings</vt:lpstr>
      <vt:lpstr>Business Recommendations</vt:lpstr>
      <vt:lpstr>Project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Sanjeev Chugh</dc:creator>
  <cp:lastModifiedBy>Sanjeev Chugh</cp:lastModifiedBy>
  <cp:revision>13</cp:revision>
  <dcterms:modified xsi:type="dcterms:W3CDTF">2026-07-26T07:36:22Z</dcterms:modified>
</cp:coreProperties>
</file>